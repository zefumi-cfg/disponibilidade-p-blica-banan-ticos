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cade Gamer" charset="1" panose="00000000000000000000"/>
      <p:regular r:id="rId14"/>
    </p:embeddedFont>
    <p:embeddedFont>
      <p:font typeface="Retropix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jpe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415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5602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24204" y="2595461"/>
            <a:ext cx="6330066" cy="1369596"/>
          </a:xfrm>
          <a:custGeom>
            <a:avLst/>
            <a:gdLst/>
            <a:ahLst/>
            <a:cxnLst/>
            <a:rect r="r" b="b" t="t" l="l"/>
            <a:pathLst>
              <a:path h="1369596" w="6330066">
                <a:moveTo>
                  <a:pt x="0" y="0"/>
                </a:moveTo>
                <a:lnTo>
                  <a:pt x="6330067" y="0"/>
                </a:lnTo>
                <a:lnTo>
                  <a:pt x="6330067" y="1369597"/>
                </a:lnTo>
                <a:lnTo>
                  <a:pt x="0" y="1369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10430" y="6013587"/>
            <a:ext cx="2884488" cy="2617715"/>
          </a:xfrm>
          <a:custGeom>
            <a:avLst/>
            <a:gdLst/>
            <a:ahLst/>
            <a:cxnLst/>
            <a:rect r="r" b="b" t="t" l="l"/>
            <a:pathLst>
              <a:path h="2617715" w="2884488">
                <a:moveTo>
                  <a:pt x="0" y="0"/>
                </a:moveTo>
                <a:lnTo>
                  <a:pt x="2884488" y="0"/>
                </a:lnTo>
                <a:lnTo>
                  <a:pt x="2884488" y="2617715"/>
                </a:lnTo>
                <a:lnTo>
                  <a:pt x="0" y="2617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062019" y="5055212"/>
            <a:ext cx="10806865" cy="3576090"/>
          </a:xfrm>
          <a:custGeom>
            <a:avLst/>
            <a:gdLst/>
            <a:ahLst/>
            <a:cxnLst/>
            <a:rect r="r" b="b" t="t" l="l"/>
            <a:pathLst>
              <a:path h="3576090" w="10806865">
                <a:moveTo>
                  <a:pt x="0" y="0"/>
                </a:moveTo>
                <a:lnTo>
                  <a:pt x="10806865" y="0"/>
                </a:lnTo>
                <a:lnTo>
                  <a:pt x="10806865" y="3576090"/>
                </a:lnTo>
                <a:lnTo>
                  <a:pt x="0" y="3576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44846" y="4479408"/>
            <a:ext cx="4088783" cy="884664"/>
          </a:xfrm>
          <a:custGeom>
            <a:avLst/>
            <a:gdLst/>
            <a:ahLst/>
            <a:cxnLst/>
            <a:rect r="r" b="b" t="t" l="l"/>
            <a:pathLst>
              <a:path h="884664" w="4088783">
                <a:moveTo>
                  <a:pt x="0" y="0"/>
                </a:moveTo>
                <a:lnTo>
                  <a:pt x="4088783" y="0"/>
                </a:lnTo>
                <a:lnTo>
                  <a:pt x="4088783" y="884664"/>
                </a:lnTo>
                <a:lnTo>
                  <a:pt x="0" y="884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46845" y="45165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057400"/>
            <a:ext cx="1688586" cy="1688586"/>
          </a:xfrm>
          <a:custGeom>
            <a:avLst/>
            <a:gdLst/>
            <a:ahLst/>
            <a:cxnLst/>
            <a:rect r="r" b="b" t="t" l="l"/>
            <a:pathLst>
              <a:path h="1688586" w="1688586">
                <a:moveTo>
                  <a:pt x="0" y="0"/>
                </a:moveTo>
                <a:lnTo>
                  <a:pt x="1688586" y="0"/>
                </a:lnTo>
                <a:lnTo>
                  <a:pt x="1688586" y="1688586"/>
                </a:lnTo>
                <a:lnTo>
                  <a:pt x="0" y="16885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316186" y="2595461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07210" y="870027"/>
            <a:ext cx="13124571" cy="16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1"/>
              </a:lnSpc>
            </a:pPr>
            <a:r>
              <a:rPr lang="en-US" sz="1154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BANANÁTICO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9517" y="3032860"/>
            <a:ext cx="4579441" cy="42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JOGO DIDÁTICO DE CONJUNTOS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4846" y="6678522"/>
            <a:ext cx="7520434" cy="205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221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</a:t>
            </a:r>
            <a:r>
              <a:rPr lang="en-US" sz="221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 grupo:</a:t>
            </a:r>
          </a:p>
          <a:p>
            <a:pPr algn="l" marL="478475" indent="-239238" lvl="1">
              <a:lnSpc>
                <a:spcPts val="2282"/>
              </a:lnSpc>
              <a:buFont typeface="Arial"/>
              <a:buChar char="•"/>
            </a:pPr>
            <a:r>
              <a:rPr lang="en-US" sz="221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Gabriel Viana Cruz - 2510431</a:t>
            </a:r>
          </a:p>
          <a:p>
            <a:pPr algn="l" marL="478475" indent="-239238" lvl="1">
              <a:lnSpc>
                <a:spcPts val="2282"/>
              </a:lnSpc>
              <a:buFont typeface="Arial"/>
              <a:buChar char="•"/>
            </a:pPr>
            <a:r>
              <a:rPr lang="en-US" sz="221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Isabele Aragão Guerra - 2510475</a:t>
            </a:r>
          </a:p>
          <a:p>
            <a:pPr algn="l" marL="478475" indent="-239238" lvl="1">
              <a:lnSpc>
                <a:spcPts val="2282"/>
              </a:lnSpc>
              <a:buFont typeface="Arial"/>
              <a:buChar char="•"/>
            </a:pPr>
            <a:r>
              <a:rPr lang="en-US" sz="221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José Valdenor Rodrigues Cavalcante Júnior - 2510491</a:t>
            </a:r>
          </a:p>
          <a:p>
            <a:pPr algn="l" marL="478475" indent="-239238" lvl="1">
              <a:lnSpc>
                <a:spcPts val="2282"/>
              </a:lnSpc>
              <a:buFont typeface="Arial"/>
              <a:buChar char="•"/>
            </a:pPr>
            <a:r>
              <a:rPr lang="en-US" sz="221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Carlos Vinicius Scipião de Paulo Vieira - 2510427</a:t>
            </a:r>
          </a:p>
          <a:p>
            <a:pPr algn="l" marL="478475" indent="-239238" lvl="1">
              <a:lnSpc>
                <a:spcPts val="2282"/>
              </a:lnSpc>
              <a:buFont typeface="Arial"/>
              <a:buChar char="•"/>
            </a:pPr>
            <a:r>
              <a:rPr lang="en-US" sz="221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Nicolas Carneiro Benevides - 2510541</a:t>
            </a:r>
          </a:p>
          <a:p>
            <a:pPr algn="ctr">
              <a:lnSpc>
                <a:spcPts val="228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4000" y="4784211"/>
            <a:ext cx="2670475" cy="35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</a:pPr>
            <a:r>
              <a:rPr lang="en-US" sz="2425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CENÁRIO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097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5602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1511" y="701999"/>
            <a:ext cx="13240718" cy="93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646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OBJETIVO DO PROJETO: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96885" y="2057400"/>
            <a:ext cx="10455773" cy="5722159"/>
          </a:xfrm>
          <a:custGeom>
            <a:avLst/>
            <a:gdLst/>
            <a:ahLst/>
            <a:cxnLst/>
            <a:rect r="r" b="b" t="t" l="l"/>
            <a:pathLst>
              <a:path h="5722159" w="10455773">
                <a:moveTo>
                  <a:pt x="0" y="0"/>
                </a:moveTo>
                <a:lnTo>
                  <a:pt x="10455773" y="0"/>
                </a:lnTo>
                <a:lnTo>
                  <a:pt x="10455773" y="5722159"/>
                </a:lnTo>
                <a:lnTo>
                  <a:pt x="0" y="5722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6885" y="3151272"/>
            <a:ext cx="10051416" cy="305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objetivo do jogo é ensinar conceitos de conjuntos de maneira mais divertida e acessível para alunos do ensino médio.</a:t>
            </a:r>
          </a:p>
          <a:p>
            <a:pPr algn="l">
              <a:lnSpc>
                <a:spcPts val="2935"/>
              </a:lnSpc>
            </a:pP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jogador acompanha o personagem Jorge, um macaco aventureiro, que precisa avançar pelo cenário respondendo corretamente perguntas relacionadas ao conteúdo matemático.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611827" y="5055212"/>
            <a:ext cx="10806865" cy="3576090"/>
          </a:xfrm>
          <a:custGeom>
            <a:avLst/>
            <a:gdLst/>
            <a:ahLst/>
            <a:cxnLst/>
            <a:rect r="r" b="b" t="t" l="l"/>
            <a:pathLst>
              <a:path h="3576090" w="10806865">
                <a:moveTo>
                  <a:pt x="0" y="0"/>
                </a:moveTo>
                <a:lnTo>
                  <a:pt x="10806865" y="0"/>
                </a:lnTo>
                <a:lnTo>
                  <a:pt x="10806865" y="3576090"/>
                </a:lnTo>
                <a:lnTo>
                  <a:pt x="0" y="3576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03512" y="6013587"/>
            <a:ext cx="2884488" cy="2617715"/>
          </a:xfrm>
          <a:custGeom>
            <a:avLst/>
            <a:gdLst/>
            <a:ahLst/>
            <a:cxnLst/>
            <a:rect r="r" b="b" t="t" l="l"/>
            <a:pathLst>
              <a:path h="2617715" w="2884488">
                <a:moveTo>
                  <a:pt x="0" y="0"/>
                </a:moveTo>
                <a:lnTo>
                  <a:pt x="2884488" y="0"/>
                </a:lnTo>
                <a:lnTo>
                  <a:pt x="2884488" y="2617715"/>
                </a:lnTo>
                <a:lnTo>
                  <a:pt x="0" y="2617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45165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415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511" y="2416439"/>
            <a:ext cx="9379468" cy="5133127"/>
          </a:xfrm>
          <a:custGeom>
            <a:avLst/>
            <a:gdLst/>
            <a:ahLst/>
            <a:cxnLst/>
            <a:rect r="r" b="b" t="t" l="l"/>
            <a:pathLst>
              <a:path h="5133127" w="9379468">
                <a:moveTo>
                  <a:pt x="0" y="0"/>
                </a:moveTo>
                <a:lnTo>
                  <a:pt x="9379468" y="0"/>
                </a:lnTo>
                <a:lnTo>
                  <a:pt x="9379468" y="5133127"/>
                </a:lnTo>
                <a:lnTo>
                  <a:pt x="0" y="5133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03755" y="2416439"/>
            <a:ext cx="7689694" cy="4816503"/>
          </a:xfrm>
          <a:custGeom>
            <a:avLst/>
            <a:gdLst/>
            <a:ahLst/>
            <a:cxnLst/>
            <a:rect r="r" b="b" t="t" l="l"/>
            <a:pathLst>
              <a:path h="4816503" w="7689694">
                <a:moveTo>
                  <a:pt x="0" y="0"/>
                </a:moveTo>
                <a:lnTo>
                  <a:pt x="7689694" y="0"/>
                </a:lnTo>
                <a:lnTo>
                  <a:pt x="7689694" y="4816504"/>
                </a:lnTo>
                <a:lnTo>
                  <a:pt x="0" y="4816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932" t="0" r="-854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20005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0327" y="772951"/>
            <a:ext cx="12566670" cy="93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646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NARRATIVA DO JOGO: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6907" y="2864839"/>
            <a:ext cx="8955273" cy="453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personagem principal do jogo é Jorge, um macaco que vive em um ambiente de aventura e quer aprender mais para se tornar mais inteligente e preparado.</a:t>
            </a:r>
          </a:p>
          <a:p>
            <a:pPr algn="l">
              <a:lnSpc>
                <a:spcPts val="2935"/>
              </a:lnSpc>
            </a:pP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Durante sua jornada, Jorge encontra desafios matemáticos sobre conjuntos e só consegue avançar no percurso quando escolhe a resposta correta. Assim, o jogador participa de uma aventura em que aprender matemática é essencial para vencer.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415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26517" y="1746181"/>
            <a:ext cx="12167413" cy="6658894"/>
          </a:xfrm>
          <a:custGeom>
            <a:avLst/>
            <a:gdLst/>
            <a:ahLst/>
            <a:cxnLst/>
            <a:rect r="r" b="b" t="t" l="l"/>
            <a:pathLst>
              <a:path h="6658894" w="12167413">
                <a:moveTo>
                  <a:pt x="0" y="0"/>
                </a:moveTo>
                <a:lnTo>
                  <a:pt x="12167414" y="0"/>
                </a:lnTo>
                <a:lnTo>
                  <a:pt x="12167414" y="6658893"/>
                </a:lnTo>
                <a:lnTo>
                  <a:pt x="0" y="6658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0005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6517" y="585072"/>
            <a:ext cx="12566670" cy="93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646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CONTEÚDO ABORDADO: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3991" y="2726014"/>
            <a:ext cx="11959940" cy="453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jogo aborda conteúdos do tema Conjuntos, com foco em questões de nível de ensino médio.</a:t>
            </a: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As perguntas exploram conceitos importantes para o aprendizado do assunto e incentivam o aluno a interpretar situações-problema.</a:t>
            </a:r>
          </a:p>
          <a:p>
            <a:pPr algn="l">
              <a:lnSpc>
                <a:spcPts val="2935"/>
              </a:lnSpc>
            </a:pP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Inclusão / subconjuntos</a:t>
            </a: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Cardinalidade</a:t>
            </a: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Exclusão</a:t>
            </a: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Diagrama de Venn</a:t>
            </a:r>
          </a:p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Interpretação de problemas envolvendo conjuntos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277084" y="45165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415" y="8790945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7233" y="8790945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91823" y="4508042"/>
            <a:ext cx="7303095" cy="3922218"/>
          </a:xfrm>
          <a:custGeom>
            <a:avLst/>
            <a:gdLst/>
            <a:ahLst/>
            <a:cxnLst/>
            <a:rect r="r" b="b" t="t" l="l"/>
            <a:pathLst>
              <a:path h="3922218" w="7303095">
                <a:moveTo>
                  <a:pt x="0" y="0"/>
                </a:moveTo>
                <a:lnTo>
                  <a:pt x="7303095" y="0"/>
                </a:lnTo>
                <a:lnTo>
                  <a:pt x="7303095" y="3922218"/>
                </a:lnTo>
                <a:lnTo>
                  <a:pt x="0" y="3922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399" t="-20198" r="-2854" b="-566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0005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391708">
            <a:off x="397275" y="232595"/>
            <a:ext cx="984431" cy="1592210"/>
          </a:xfrm>
          <a:custGeom>
            <a:avLst/>
            <a:gdLst/>
            <a:ahLst/>
            <a:cxnLst/>
            <a:rect r="r" b="b" t="t" l="l"/>
            <a:pathLst>
              <a:path h="1592210" w="984431">
                <a:moveTo>
                  <a:pt x="0" y="0"/>
                </a:moveTo>
                <a:lnTo>
                  <a:pt x="984431" y="0"/>
                </a:lnTo>
                <a:lnTo>
                  <a:pt x="984431" y="1592210"/>
                </a:lnTo>
                <a:lnTo>
                  <a:pt x="0" y="15922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471207"/>
            <a:ext cx="7612334" cy="4031080"/>
          </a:xfrm>
          <a:custGeom>
            <a:avLst/>
            <a:gdLst/>
            <a:ahLst/>
            <a:cxnLst/>
            <a:rect r="r" b="b" t="t" l="l"/>
            <a:pathLst>
              <a:path h="4031080" w="7612334">
                <a:moveTo>
                  <a:pt x="0" y="0"/>
                </a:moveTo>
                <a:lnTo>
                  <a:pt x="7612334" y="0"/>
                </a:lnTo>
                <a:lnTo>
                  <a:pt x="7612334" y="4031080"/>
                </a:lnTo>
                <a:lnTo>
                  <a:pt x="0" y="40310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274" t="-2054" r="-9139" b="-2855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60665" y="222462"/>
            <a:ext cx="12566670" cy="93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4"/>
              </a:lnSpc>
            </a:pPr>
            <a:r>
              <a:rPr lang="en-US" sz="646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COMO JOGAR?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5632" y="1479388"/>
            <a:ext cx="15209286" cy="266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123" indent="-270561" lvl="1">
              <a:lnSpc>
                <a:spcPts val="2581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jogador controla Jorge no cenário e deve avançar pela fase até encontrar uma pergunta sobre conjuntos.</a:t>
            </a:r>
          </a:p>
          <a:p>
            <a:pPr algn="l">
              <a:lnSpc>
                <a:spcPts val="2581"/>
              </a:lnSpc>
            </a:pPr>
          </a:p>
          <a:p>
            <a:pPr algn="l" marL="541123" indent="-270561" lvl="1">
              <a:lnSpc>
                <a:spcPts val="2581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Para responder, ele deve escolher uma das alternativas disponíveis no cenário, encostando ou batendo no bloco correspondente à resposta que considera correta.</a:t>
            </a:r>
          </a:p>
          <a:p>
            <a:pPr algn="l">
              <a:lnSpc>
                <a:spcPts val="2581"/>
              </a:lnSpc>
            </a:pPr>
          </a:p>
          <a:p>
            <a:pPr algn="l" marL="541123" indent="-270561" lvl="1">
              <a:lnSpc>
                <a:spcPts val="2581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 a re</a:t>
            </a:r>
            <a:r>
              <a:rPr lang="en-US" sz="2506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sposta estiver correta, o jogador continua sua aventura; se estiver errada, recebe feedback e precisa tentar novamente.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415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84248" y="1974255"/>
            <a:ext cx="11581958" cy="6338490"/>
          </a:xfrm>
          <a:custGeom>
            <a:avLst/>
            <a:gdLst/>
            <a:ahLst/>
            <a:cxnLst/>
            <a:rect r="r" b="b" t="t" l="l"/>
            <a:pathLst>
              <a:path h="6338490" w="11581958">
                <a:moveTo>
                  <a:pt x="0" y="0"/>
                </a:moveTo>
                <a:lnTo>
                  <a:pt x="11581958" y="0"/>
                </a:lnTo>
                <a:lnTo>
                  <a:pt x="11581958" y="6338490"/>
                </a:lnTo>
                <a:lnTo>
                  <a:pt x="0" y="6338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0005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7827" y="651268"/>
            <a:ext cx="14148706" cy="78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33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INTERACÕES COM O CONTEÚDO: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3454" y="2940081"/>
            <a:ext cx="11203546" cy="416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224" indent="-307612" lvl="1">
              <a:lnSpc>
                <a:spcPts val="2935"/>
              </a:lnSpc>
              <a:buFont typeface="Arial"/>
              <a:buChar char="•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jogo foi planejado para garantir a participação ativa do jogador com o conteúdo matemático. Ao longo da experiência, o aluno realiza</a:t>
            </a: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diversas interações, como:</a:t>
            </a:r>
          </a:p>
          <a:p>
            <a:pPr algn="l">
              <a:lnSpc>
                <a:spcPts val="2935"/>
              </a:lnSpc>
            </a:pPr>
          </a:p>
          <a:p>
            <a:pPr algn="l" marL="615224" indent="-307612" lvl="1">
              <a:lnSpc>
                <a:spcPts val="2935"/>
              </a:lnSpc>
              <a:buAutoNum type="arabicPeriod" startAt="1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Escolher o tipo de conteúdo de conjuntos</a:t>
            </a:r>
          </a:p>
          <a:p>
            <a:pPr algn="l" marL="615224" indent="-307612" lvl="1">
              <a:lnSpc>
                <a:spcPts val="2935"/>
              </a:lnSpc>
              <a:buAutoNum type="arabicPeriod" startAt="1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Ler e interpretar a pergunta apresentada</a:t>
            </a:r>
          </a:p>
          <a:p>
            <a:pPr algn="l" marL="615224" indent="-307612" lvl="1">
              <a:lnSpc>
                <a:spcPts val="2935"/>
              </a:lnSpc>
              <a:buAutoNum type="arabicPeriod" startAt="1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Analisar as alternativas disponíveis</a:t>
            </a:r>
          </a:p>
          <a:p>
            <a:pPr algn="l" marL="615224" indent="-307612" lvl="1">
              <a:lnSpc>
                <a:spcPts val="2935"/>
              </a:lnSpc>
              <a:buAutoNum type="arabicPeriod" startAt="1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Selecionar a resposta correta por meio do cenário</a:t>
            </a:r>
          </a:p>
          <a:p>
            <a:pPr algn="l" marL="615224" indent="-307612" lvl="1">
              <a:lnSpc>
                <a:spcPts val="2935"/>
              </a:lnSpc>
              <a:buAutoNum type="arabicPeriod" startAt="1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Receber feedback de acerto ou erro</a:t>
            </a:r>
          </a:p>
          <a:p>
            <a:pPr algn="l" marL="615224" indent="-307612" lvl="1">
              <a:lnSpc>
                <a:spcPts val="2935"/>
              </a:lnSpc>
              <a:buAutoNum type="arabicPeriod" startAt="1"/>
            </a:pPr>
            <a:r>
              <a:rPr lang="en-US" sz="284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Avançar para novos desafios após responder corretamente</a:t>
            </a:r>
          </a:p>
          <a:p>
            <a:pPr algn="l">
              <a:lnSpc>
                <a:spcPts val="293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8391708">
            <a:off x="728301" y="321544"/>
            <a:ext cx="1112579" cy="1799476"/>
          </a:xfrm>
          <a:custGeom>
            <a:avLst/>
            <a:gdLst/>
            <a:ahLst/>
            <a:cxnLst/>
            <a:rect r="r" b="b" t="t" l="l"/>
            <a:pathLst>
              <a:path h="1799476" w="1112579">
                <a:moveTo>
                  <a:pt x="0" y="0"/>
                </a:moveTo>
                <a:lnTo>
                  <a:pt x="1112579" y="0"/>
                </a:lnTo>
                <a:lnTo>
                  <a:pt x="1112579" y="1799476"/>
                </a:lnTo>
                <a:lnTo>
                  <a:pt x="0" y="1799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77084" y="45165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415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94050" y="1434707"/>
            <a:ext cx="12499900" cy="6840854"/>
          </a:xfrm>
          <a:custGeom>
            <a:avLst/>
            <a:gdLst/>
            <a:ahLst/>
            <a:cxnLst/>
            <a:rect r="r" b="b" t="t" l="l"/>
            <a:pathLst>
              <a:path h="6840854" w="12499900">
                <a:moveTo>
                  <a:pt x="0" y="0"/>
                </a:moveTo>
                <a:lnTo>
                  <a:pt x="12499900" y="0"/>
                </a:lnTo>
                <a:lnTo>
                  <a:pt x="12499900" y="6840854"/>
                </a:lnTo>
                <a:lnTo>
                  <a:pt x="0" y="6840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20005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74132" y="2117129"/>
            <a:ext cx="11339736" cy="545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jogo foi desenvolvido como um protótipo educacional com foco em jogabilidade simples, interface</a:t>
            </a: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intuitiva e integração do conteúdo matemático com elementos de aventura. Durante o desenvolvimento, buscamos criar um ambiente visual atrativo e uma mecânica fácil de compreender, para que o jogador pudesse aprender enquanto joga.</a:t>
            </a:r>
          </a:p>
          <a:p>
            <a:pPr algn="l">
              <a:lnSpc>
                <a:spcPts val="2833"/>
              </a:lnSpc>
            </a:pP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Plataforma utilizada: Godot engine</a:t>
            </a: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Criação do personagem Jorge</a:t>
            </a: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Construção do cenário de aventura</a:t>
            </a: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Implementação das perguntas e respostas</a:t>
            </a: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Sistema de avanço no jogo</a:t>
            </a: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Inclusão de elementos visuais como pontuação, tempo e vidas</a:t>
            </a:r>
          </a:p>
          <a:p>
            <a:pPr algn="l" marL="593849" indent="-296924" lvl="1">
              <a:lnSpc>
                <a:spcPts val="2833"/>
              </a:lnSpc>
              <a:buFont typeface="Arial"/>
              <a:buChar char="•"/>
            </a:pPr>
            <a:r>
              <a:rPr lang="en-US" sz="2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Organização das telas de introdução, seleção e fase jogável</a:t>
            </a:r>
          </a:p>
          <a:p>
            <a:pPr algn="l">
              <a:lnSpc>
                <a:spcPts val="283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8391708">
            <a:off x="728301" y="321544"/>
            <a:ext cx="1112579" cy="1799476"/>
          </a:xfrm>
          <a:custGeom>
            <a:avLst/>
            <a:gdLst/>
            <a:ahLst/>
            <a:cxnLst/>
            <a:rect r="r" b="b" t="t" l="l"/>
            <a:pathLst>
              <a:path h="1799476" w="1112579">
                <a:moveTo>
                  <a:pt x="0" y="0"/>
                </a:moveTo>
                <a:lnTo>
                  <a:pt x="1112579" y="0"/>
                </a:lnTo>
                <a:lnTo>
                  <a:pt x="1112579" y="1799476"/>
                </a:lnTo>
                <a:lnTo>
                  <a:pt x="0" y="1799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89870" y="437843"/>
            <a:ext cx="14148706" cy="78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33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DESENVOLVIMENTO DO JOGO: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7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32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93662" y="8631302"/>
            <a:ext cx="9687595" cy="1655698"/>
          </a:xfrm>
          <a:custGeom>
            <a:avLst/>
            <a:gdLst/>
            <a:ahLst/>
            <a:cxnLst/>
            <a:rect r="r" b="b" t="t" l="l"/>
            <a:pathLst>
              <a:path h="1655698" w="9687595">
                <a:moveTo>
                  <a:pt x="0" y="0"/>
                </a:moveTo>
                <a:lnTo>
                  <a:pt x="9687595" y="0"/>
                </a:lnTo>
                <a:lnTo>
                  <a:pt x="9687595" y="1655698"/>
                </a:lnTo>
                <a:lnTo>
                  <a:pt x="0" y="165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32057" y="7373503"/>
            <a:ext cx="1257799" cy="1257799"/>
          </a:xfrm>
          <a:custGeom>
            <a:avLst/>
            <a:gdLst/>
            <a:ahLst/>
            <a:cxnLst/>
            <a:rect r="r" b="b" t="t" l="l"/>
            <a:pathLst>
              <a:path h="1257799" w="1257799">
                <a:moveTo>
                  <a:pt x="0" y="0"/>
                </a:moveTo>
                <a:lnTo>
                  <a:pt x="1257798" y="0"/>
                </a:lnTo>
                <a:lnTo>
                  <a:pt x="1257798" y="1257799"/>
                </a:lnTo>
                <a:lnTo>
                  <a:pt x="0" y="125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0437" y="4516502"/>
            <a:ext cx="3164655" cy="4114800"/>
          </a:xfrm>
          <a:custGeom>
            <a:avLst/>
            <a:gdLst/>
            <a:ahLst/>
            <a:cxnLst/>
            <a:rect r="r" b="b" t="t" l="l"/>
            <a:pathLst>
              <a:path h="4114800" w="3164655">
                <a:moveTo>
                  <a:pt x="0" y="0"/>
                </a:moveTo>
                <a:lnTo>
                  <a:pt x="3164655" y="0"/>
                </a:lnTo>
                <a:lnTo>
                  <a:pt x="31646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27258" y="0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55092" y="309820"/>
            <a:ext cx="10530177" cy="103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3"/>
              </a:lnSpc>
            </a:pPr>
            <a:r>
              <a:rPr lang="en-US" sz="715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acesso ao jogo: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7091" y="1451430"/>
            <a:ext cx="13447023" cy="294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9831" indent="-339915" lvl="1">
              <a:lnSpc>
                <a:spcPts val="3243"/>
              </a:lnSpc>
              <a:buFont typeface="Arial"/>
              <a:buChar char="•"/>
            </a:pPr>
            <a:r>
              <a:rPr lang="en-US" sz="314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 jogo foi disponibilizado d</a:t>
            </a:r>
            <a:r>
              <a:rPr lang="en-US" sz="314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 forma acessível para que outras pessoas possam testá-lo. O acesso pode ser feito por meio de um arquivo executável .</a:t>
            </a:r>
          </a:p>
          <a:p>
            <a:pPr algn="l">
              <a:lnSpc>
                <a:spcPts val="3243"/>
              </a:lnSpc>
            </a:pPr>
          </a:p>
          <a:p>
            <a:pPr algn="l" marL="679831" indent="-339915" lvl="1">
              <a:lnSpc>
                <a:spcPts val="3243"/>
              </a:lnSpc>
              <a:buFont typeface="Arial"/>
              <a:buChar char="•"/>
            </a:pPr>
            <a:r>
              <a:rPr lang="en-US" sz="314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Com esse projeto, buscamos mostrar que a matemática pode ser ensinada de forma mais dinâmica e envolvente, tornando o aprendizado de conjuntos mais interessante para os alunos.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1827" y="12081657"/>
            <a:ext cx="3308775" cy="580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2130" indent="-281065" lvl="1">
              <a:lnSpc>
                <a:spcPts val="2681"/>
              </a:lnSpc>
              <a:spcBef>
                <a:spcPct val="0"/>
              </a:spcBef>
              <a:buFont typeface="Arial"/>
              <a:buChar char="•"/>
            </a:pP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PRÓ</a:t>
            </a: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XIMAS MELHORIAS:</a:t>
            </a:r>
          </a:p>
          <a:p>
            <a:pPr algn="ctr" marL="1124261" indent="-374754" lvl="2">
              <a:lnSpc>
                <a:spcPts val="2681"/>
              </a:lnSpc>
              <a:spcBef>
                <a:spcPct val="0"/>
              </a:spcBef>
              <a:buFont typeface="Arial"/>
              <a:buChar char="⚬"/>
            </a:pP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MAIS FASES</a:t>
            </a:r>
          </a:p>
          <a:p>
            <a:pPr algn="ctr" marL="1124261" indent="-374754" lvl="2">
              <a:lnSpc>
                <a:spcPts val="2681"/>
              </a:lnSpc>
              <a:spcBef>
                <a:spcPct val="0"/>
              </a:spcBef>
              <a:buFont typeface="Arial"/>
              <a:buChar char="⚬"/>
            </a:pP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MAIS PERGUNTAS</a:t>
            </a:r>
          </a:p>
          <a:p>
            <a:pPr algn="ctr" marL="1124261" indent="-374754" lvl="2">
              <a:lnSpc>
                <a:spcPts val="2681"/>
              </a:lnSpc>
              <a:spcBef>
                <a:spcPct val="0"/>
              </a:spcBef>
              <a:buFont typeface="Arial"/>
              <a:buChar char="⚬"/>
            </a:pP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MAIS TIPOS DE CONJUNTOS</a:t>
            </a:r>
          </a:p>
          <a:p>
            <a:pPr algn="ctr" marL="1124261" indent="-374754" lvl="2">
              <a:lnSpc>
                <a:spcPts val="2681"/>
              </a:lnSpc>
              <a:spcBef>
                <a:spcPct val="0"/>
              </a:spcBef>
              <a:buFont typeface="Arial"/>
              <a:buChar char="⚬"/>
            </a:pP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MELHORIA VISUAL</a:t>
            </a:r>
          </a:p>
          <a:p>
            <a:pPr algn="ctr" marL="1124261" indent="-374754" lvl="2">
              <a:lnSpc>
                <a:spcPts val="2681"/>
              </a:lnSpc>
              <a:spcBef>
                <a:spcPct val="0"/>
              </a:spcBef>
              <a:buFont typeface="Arial"/>
              <a:buChar char="⚬"/>
            </a:pPr>
            <a:r>
              <a:rPr lang="en-US" sz="260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MAIS FEEDBACKS</a:t>
            </a:r>
          </a:p>
          <a:p>
            <a:pPr algn="ctr">
              <a:lnSpc>
                <a:spcPts val="2681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855868" y="5055212"/>
            <a:ext cx="10806865" cy="3576090"/>
          </a:xfrm>
          <a:custGeom>
            <a:avLst/>
            <a:gdLst/>
            <a:ahLst/>
            <a:cxnLst/>
            <a:rect r="r" b="b" t="t" l="l"/>
            <a:pathLst>
              <a:path h="3576090" w="10806865">
                <a:moveTo>
                  <a:pt x="0" y="0"/>
                </a:moveTo>
                <a:lnTo>
                  <a:pt x="10806864" y="0"/>
                </a:lnTo>
                <a:lnTo>
                  <a:pt x="10806864" y="3576090"/>
                </a:lnTo>
                <a:lnTo>
                  <a:pt x="0" y="3576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29786" y="4786033"/>
            <a:ext cx="7028429" cy="3744236"/>
          </a:xfrm>
          <a:custGeom>
            <a:avLst/>
            <a:gdLst/>
            <a:ahLst/>
            <a:cxnLst/>
            <a:rect r="r" b="b" t="t" l="l"/>
            <a:pathLst>
              <a:path h="3744236" w="7028429">
                <a:moveTo>
                  <a:pt x="0" y="0"/>
                </a:moveTo>
                <a:lnTo>
                  <a:pt x="7028428" y="0"/>
                </a:lnTo>
                <a:lnTo>
                  <a:pt x="7028428" y="3744235"/>
                </a:lnTo>
                <a:lnTo>
                  <a:pt x="0" y="37442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30715" y="5563116"/>
            <a:ext cx="8271126" cy="243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8"/>
              </a:lnSpc>
            </a:pP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PRÓ</a:t>
            </a: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XIMAS MELHORIAS:</a:t>
            </a:r>
          </a:p>
          <a:p>
            <a:pPr algn="l" marL="1160733" indent="-386911" lvl="2">
              <a:lnSpc>
                <a:spcPts val="2768"/>
              </a:lnSpc>
              <a:buFont typeface="Arial"/>
              <a:buChar char="⚬"/>
            </a:pP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MAIS FASES</a:t>
            </a:r>
          </a:p>
          <a:p>
            <a:pPr algn="l" marL="1160733" indent="-386911" lvl="2">
              <a:lnSpc>
                <a:spcPts val="2768"/>
              </a:lnSpc>
              <a:buFont typeface="Arial"/>
              <a:buChar char="⚬"/>
            </a:pP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MAIS PERGUNTAS</a:t>
            </a:r>
          </a:p>
          <a:p>
            <a:pPr algn="l" marL="1160733" indent="-386911" lvl="2">
              <a:lnSpc>
                <a:spcPts val="2768"/>
              </a:lnSpc>
              <a:buFont typeface="Arial"/>
              <a:buChar char="⚬"/>
            </a:pP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MAIS TIPOS DE CONJUNTOS</a:t>
            </a:r>
          </a:p>
          <a:p>
            <a:pPr algn="l" marL="1160733" indent="-386911" lvl="2">
              <a:lnSpc>
                <a:spcPts val="2768"/>
              </a:lnSpc>
              <a:buFont typeface="Arial"/>
              <a:buChar char="⚬"/>
            </a:pP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MELHORIA VISUAL</a:t>
            </a:r>
          </a:p>
          <a:p>
            <a:pPr algn="l" marL="1160733" indent="-386911" lvl="2">
              <a:lnSpc>
                <a:spcPts val="2768"/>
              </a:lnSpc>
              <a:buFont typeface="Arial"/>
              <a:buChar char="⚬"/>
            </a:pPr>
            <a:r>
              <a:rPr lang="en-US" sz="2688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MAIS FEEDBACKS</a:t>
            </a:r>
          </a:p>
          <a:p>
            <a:pPr algn="l">
              <a:lnSpc>
                <a:spcPts val="2768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577338" y="6013587"/>
            <a:ext cx="2884488" cy="2617715"/>
          </a:xfrm>
          <a:custGeom>
            <a:avLst/>
            <a:gdLst/>
            <a:ahLst/>
            <a:cxnLst/>
            <a:rect r="r" b="b" t="t" l="l"/>
            <a:pathLst>
              <a:path h="2617715" w="2884488">
                <a:moveTo>
                  <a:pt x="0" y="0"/>
                </a:moveTo>
                <a:lnTo>
                  <a:pt x="2884489" y="0"/>
                </a:lnTo>
                <a:lnTo>
                  <a:pt x="2884489" y="2617715"/>
                </a:lnTo>
                <a:lnTo>
                  <a:pt x="0" y="261771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DAHJTAiYXGw</dc:identifier>
  <dcterms:modified xsi:type="dcterms:W3CDTF">2011-08-01T06:04:30Z</dcterms:modified>
  <cp:revision>1</cp:revision>
  <dc:title>Blue and Yellow Neon Retro Pixel Art Game Night Game Presentation</dc:title>
</cp:coreProperties>
</file>